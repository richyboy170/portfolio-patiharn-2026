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ABeeZee Bold" charset="1" panose="02000000000000000000"/>
      <p:regular r:id="rId7"/>
    </p:embeddedFont>
    <p:embeddedFont>
      <p:font typeface="ABeeZee" charset="1" panose="02000000000000000000"/>
      <p:regular r:id="rId8"/>
    </p:embeddedFont>
    <p:embeddedFont>
      <p:font typeface="ABeeZee Italics" charset="1" panose="020000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https://www.google.com/search?sca_esv=792560e52f66799b&amp;rlz=1C1OZZY_enTH1159TH1159&amp;cs=1&amp;sxsrf=AE3TifPYiivGoCxYsN0ODcCNadS9n9FEzw%3A1758510479634&amp;q=Global+Affairs+Canada&amp;sa=X&amp;ved=2ahUKEwj91sKDsuuPAxW4g4kEHV6tCDYQxccNegQIAxAC&amp;mstk=AUtExfDaOt_cQlWMTTvUMj9EHxHPyF-8zdPX8RTlUhvzpQDnH_GvKgIbFhRMBczAb2LCwJGeJOmWU58spaOk0a-hadHk-IXGi8brmrHMCzoHEUyPjr29rhabeZyka5dljl4AKq-biA-Vb6t6iFs1EBAsWX2_p5vV4a54KB7P75cwgcZv-5RsQF-QPz-XQZc2_bSStaPFs-EGfEu-GaQg5ON4YhpAdLUbjEXHGcWbnw69sgygcnxNFpvatncvfUl9kmuV9OQco3MerMqOZDzbWru2pCQLtWR77FOq3UTf0E-0vBBYXs-9Py335lD_Z8jUHkoR7sPKqMYtyxoa3A1Fo_R5PCjPxH0SHZM64Amuy_K85-WsosJMhdhwVGjml89ayEfOV7LGZMZ7XG92z10i8a0C81ANasLxxMyeISgWEUNTOjWjPTbKXGeQRRP3UwKt_7z9&amp;csui=3" TargetMode="External" Type="http://schemas.openxmlformats.org/officeDocument/2006/relationships/hyperlink"/><Relationship Id="rId4" Target="https://www.google.com/search?sca_esv=792560e52f66799b&amp;rlz=1C1OZZY_enTH1159TH1159&amp;cs=1&amp;sxsrf=AE3TifPYiivGoCxYsN0ODcCNadS9n9FEzw%3A1758510479634&amp;q=Canadian+Bureau+for+International+Education&amp;sa=X&amp;ved=2ahUKEwj91sKDsuuPAxW4g4kEHV6tCDYQxccNegQIAxAD&amp;mstk=AUtExfDaOt_cQlWMTTvUMj9EHxHPyF-8zdPX8RTlUhvzpQDnH_GvKgIbFhRMBczAb2LCwJGeJOmWU58spaOk0a-hadHk-IXGi8brmrHMCzoHEUyPjr29rhabeZyka5dljl4AKq-biA-Vb6t6iFs1EBAsWX2_p5vV4a54KB7P75cwgcZv-5RsQF-QPz-XQZc2_bSStaPFs-EGfEu-GaQg5ON4YhpAdLUbjEXHGcWbnw69sgygcnxNFpvatncvfUl9kmuV9OQco3MerMqOZDzbWru2pCQLtWR77FOq3UTf0E-0vBBYXs-9Py335lD_Z8jUHkoR7sPKqMYtyxoa3A1Fo_R5PCjPxH0SHZM64Amuy_K85-WsosJMhdhwVGjml89ayEfOV7LGZMZ7XG92z10i8a0C81ANasLxxMyeISgWEUNTOjWjPTbKXGeQRRP3UwKt_7z9&amp;csui=3" TargetMode="External" Type="http://schemas.openxmlformats.org/officeDocument/2006/relationships/hyperlink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45656" y="0"/>
            <a:ext cx="2714344" cy="5515354"/>
            <a:chOff x="0" y="0"/>
            <a:chExt cx="1150636" cy="23380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50636" cy="2338010"/>
            </a:xfrm>
            <a:custGeom>
              <a:avLst/>
              <a:gdLst/>
              <a:ahLst/>
              <a:cxnLst/>
              <a:rect r="r" b="b" t="t" l="l"/>
              <a:pathLst>
                <a:path h="2338010" w="1150636">
                  <a:moveTo>
                    <a:pt x="0" y="0"/>
                  </a:moveTo>
                  <a:lnTo>
                    <a:pt x="1150636" y="0"/>
                  </a:lnTo>
                  <a:lnTo>
                    <a:pt x="1150636" y="2338010"/>
                  </a:lnTo>
                  <a:lnTo>
                    <a:pt x="0" y="2338010"/>
                  </a:lnTo>
                  <a:close/>
                </a:path>
              </a:pathLst>
            </a:custGeom>
            <a:solidFill>
              <a:srgbClr val="1E7E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150636" cy="2366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407363" y="224697"/>
            <a:ext cx="1590930" cy="1590930"/>
          </a:xfrm>
          <a:custGeom>
            <a:avLst/>
            <a:gdLst/>
            <a:ahLst/>
            <a:cxnLst/>
            <a:rect r="r" b="b" t="t" l="l"/>
            <a:pathLst>
              <a:path h="1590930" w="1590930">
                <a:moveTo>
                  <a:pt x="0" y="0"/>
                </a:moveTo>
                <a:lnTo>
                  <a:pt x="1590930" y="0"/>
                </a:lnTo>
                <a:lnTo>
                  <a:pt x="1590930" y="1590930"/>
                </a:lnTo>
                <a:lnTo>
                  <a:pt x="0" y="15909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418" t="-36617" r="-10296" b="-67002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340" y="8524044"/>
            <a:ext cx="4606858" cy="1254704"/>
            <a:chOff x="0" y="0"/>
            <a:chExt cx="6142477" cy="1672939"/>
          </a:xfrm>
        </p:grpSpPr>
        <p:sp>
          <p:nvSpPr>
            <p:cNvPr name="AutoShape 7" id="7"/>
            <p:cNvSpPr/>
            <p:nvPr/>
          </p:nvSpPr>
          <p:spPr>
            <a:xfrm>
              <a:off x="0" y="312076"/>
              <a:ext cx="6142477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144067" y="9525"/>
              <a:ext cx="2322208" cy="2454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94"/>
                </a:lnSpc>
                <a:spcBef>
                  <a:spcPct val="0"/>
                </a:spcBef>
              </a:pPr>
              <a:r>
                <a:rPr lang="en-US" sz="1267" spc="6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PERSONAL PROJECTS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73276" y="397475"/>
              <a:ext cx="4822624" cy="127546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12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Website for English Vocabulary Training 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Website Link: e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nglishnewwords.vercel.app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July 2024-Present</a:t>
              </a:r>
            </a:p>
            <a:p>
              <a:pPr algn="l" marL="129540" indent="-64770" lvl="1">
                <a:lnSpc>
                  <a:spcPts val="696"/>
                </a:lnSpc>
                <a:buFont typeface="Arial"/>
                <a:buChar char="•"/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Integrating and use Next.js, Typescript, Tailwind CSS, and JSON in practical cases to make English vocabulary easy-to-learn website</a:t>
              </a:r>
            </a:p>
            <a:p>
              <a:pPr algn="l">
                <a:lnSpc>
                  <a:spcPts val="696"/>
                </a:lnSpc>
              </a:pPr>
            </a:p>
            <a:p>
              <a:pPr algn="l">
                <a:lnSpc>
                  <a:spcPts val="812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Website for T-Shirt Showcase 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Website Link: 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crazyfabric-websitex.vercel.app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June 2024-July 2024</a:t>
              </a:r>
            </a:p>
            <a:p>
              <a:pPr algn="l" marL="129540" indent="-64770" lvl="1">
                <a:lnSpc>
                  <a:spcPts val="696"/>
                </a:lnSpc>
                <a:buFont typeface="Arial"/>
                <a:buChar char="•"/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Integrating and use Next.js, Typescript, and Tailwind CSS in practical cases</a:t>
              </a:r>
            </a:p>
            <a:p>
              <a:pPr algn="l" marL="129540" indent="-64770" lvl="1">
                <a:lnSpc>
                  <a:spcPts val="696"/>
                </a:lnSpc>
                <a:buFont typeface="Arial"/>
                <a:buChar char="•"/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Emphasizes on practicing in designing method through Figma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845656" y="8164650"/>
            <a:ext cx="2571494" cy="1614098"/>
            <a:chOff x="0" y="0"/>
            <a:chExt cx="3428658" cy="2152131"/>
          </a:xfrm>
        </p:grpSpPr>
        <p:sp>
          <p:nvSpPr>
            <p:cNvPr name="AutoShape 11" id="11"/>
            <p:cNvSpPr/>
            <p:nvPr/>
          </p:nvSpPr>
          <p:spPr>
            <a:xfrm>
              <a:off x="0" y="282714"/>
              <a:ext cx="3428658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" id="12"/>
            <p:cNvSpPr txBox="true"/>
            <p:nvPr/>
          </p:nvSpPr>
          <p:spPr>
            <a:xfrm rot="0">
              <a:off x="161962" y="9525"/>
              <a:ext cx="2656907" cy="240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94"/>
                </a:lnSpc>
                <a:spcBef>
                  <a:spcPct val="0"/>
                </a:spcBef>
              </a:pPr>
              <a:r>
                <a:rPr lang="en-US" sz="1267" spc="6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EDUCATION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61962" y="360198"/>
              <a:ext cx="3194551" cy="1791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12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King Mongkut’s University of Technology Thonburi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BE in Computer Engineering-Current GPA 3.72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Aug 2023-Present</a:t>
              </a:r>
            </a:p>
            <a:p>
              <a:pPr algn="l">
                <a:lnSpc>
                  <a:spcPts val="696"/>
                </a:lnSpc>
              </a:pPr>
            </a:p>
            <a:p>
              <a:pPr algn="l">
                <a:lnSpc>
                  <a:spcPts val="812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University of Toronto, Toronto, Canada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3rd year 1st semester </a:t>
              </a: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Exchange Program: SEED Scholarship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Sep 2025-Dec 2025 (1 term)</a:t>
              </a:r>
            </a:p>
            <a:p>
              <a:pPr algn="l">
                <a:lnSpc>
                  <a:spcPts val="812"/>
                </a:lnSpc>
              </a:pPr>
            </a:p>
            <a:p>
              <a:pPr algn="l">
                <a:lnSpc>
                  <a:spcPts val="812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Bangkok Christian College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High School-Graduated GPA 3.85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May 2011-March 2023</a:t>
              </a:r>
            </a:p>
            <a:p>
              <a:pPr algn="l">
                <a:lnSpc>
                  <a:spcPts val="696"/>
                </a:lnSpc>
              </a:pPr>
            </a:p>
            <a:p>
              <a:pPr algn="l">
                <a:lnSpc>
                  <a:spcPts val="812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South Side High School, Jackson TN, United States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11th Grade Exchange Program, High School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July 2021-July 2022 (1 year)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857386" y="5704976"/>
            <a:ext cx="2559764" cy="2270051"/>
            <a:chOff x="0" y="0"/>
            <a:chExt cx="3413019" cy="3026735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157208" y="405067"/>
              <a:ext cx="3173881" cy="2621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12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Teacher Assistant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 INNO-X Innovation Exchange KMUTT, Nov 2023-Present</a:t>
              </a:r>
            </a:p>
            <a:p>
              <a:pPr algn="l" marL="129540" indent="-64770" lvl="1">
                <a:lnSpc>
                  <a:spcPts val="696"/>
                </a:lnSpc>
                <a:buFont typeface="Arial"/>
                <a:buChar char="•"/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Assist foreign students and domestic students to understand how to use tools in INNO-X laboratory room to practice communication and collaborative skills</a:t>
              </a:r>
            </a:p>
            <a:p>
              <a:pPr algn="l" marL="129540" indent="-64770" lvl="1">
                <a:lnSpc>
                  <a:spcPts val="696"/>
                </a:lnSpc>
                <a:buFont typeface="Arial"/>
                <a:buChar char="•"/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Tools included are BambuLab series P1S(3D printer), UltiMaker S7(3D printer), Lasercut, and mini CNC</a:t>
              </a:r>
            </a:p>
            <a:p>
              <a:pPr algn="l">
                <a:lnSpc>
                  <a:spcPts val="696"/>
                </a:lnSpc>
              </a:pPr>
            </a:p>
            <a:p>
              <a:pPr algn="l">
                <a:lnSpc>
                  <a:spcPts val="812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Teacher Assistant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 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Comcamp35, freshmen camp at King Mongkut’s University of Technology Thonburi, April 2024</a:t>
              </a:r>
            </a:p>
            <a:p>
              <a:pPr algn="l" marL="129540" indent="-64770" lvl="1">
                <a:lnSpc>
                  <a:spcPts val="696"/>
                </a:lnSpc>
                <a:buFont typeface="Arial"/>
                <a:buChar char="•"/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Served in Website Design class to practice communication and teaching skills</a:t>
              </a:r>
            </a:p>
            <a:p>
              <a:pPr algn="l">
                <a:lnSpc>
                  <a:spcPts val="696"/>
                </a:lnSpc>
              </a:pPr>
            </a:p>
            <a:p>
              <a:pPr algn="l">
                <a:lnSpc>
                  <a:spcPts val="812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Formula Racing Club Member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 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Black Pearl Formula Racing Team, King Mongkut’s University of Technology Thonburi, Aug-Nov 2024</a:t>
              </a:r>
            </a:p>
            <a:p>
              <a:pPr algn="l" marL="129540" indent="-64770" lvl="1">
                <a:lnSpc>
                  <a:spcPts val="696"/>
                </a:lnSpc>
                <a:buFont typeface="Arial"/>
                <a:buChar char="•"/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Contributed as a team member in suspension part, gaining hands-on experience in teamwork, collaboration, and technical club activities.</a:t>
              </a:r>
            </a:p>
          </p:txBody>
        </p:sp>
        <p:sp>
          <p:nvSpPr>
            <p:cNvPr name="AutoShape 16" id="16"/>
            <p:cNvSpPr/>
            <p:nvPr/>
          </p:nvSpPr>
          <p:spPr>
            <a:xfrm>
              <a:off x="0" y="307217"/>
              <a:ext cx="3413019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7" id="17"/>
            <p:cNvSpPr txBox="true"/>
            <p:nvPr/>
          </p:nvSpPr>
          <p:spPr>
            <a:xfrm rot="0">
              <a:off x="176124" y="9525"/>
              <a:ext cx="2922908" cy="240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94"/>
                </a:lnSpc>
                <a:spcBef>
                  <a:spcPct val="0"/>
                </a:spcBef>
              </a:pPr>
              <a:r>
                <a:rPr lang="en-US" sz="1267" spc="6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ACTIVITIES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340" y="3130781"/>
            <a:ext cx="4606858" cy="5057425"/>
            <a:chOff x="0" y="0"/>
            <a:chExt cx="6142477" cy="6743233"/>
          </a:xfrm>
        </p:grpSpPr>
        <p:sp>
          <p:nvSpPr>
            <p:cNvPr name="AutoShape 19" id="19"/>
            <p:cNvSpPr/>
            <p:nvPr/>
          </p:nvSpPr>
          <p:spPr>
            <a:xfrm>
              <a:off x="0" y="310513"/>
              <a:ext cx="6142477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0" id="20"/>
            <p:cNvSpPr txBox="true"/>
            <p:nvPr/>
          </p:nvSpPr>
          <p:spPr>
            <a:xfrm rot="0">
              <a:off x="165583" y="9525"/>
              <a:ext cx="2716317" cy="240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94"/>
                </a:lnSpc>
                <a:spcBef>
                  <a:spcPct val="0"/>
                </a:spcBef>
              </a:pPr>
              <a:r>
                <a:rPr lang="en-US" sz="1267" spc="6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COURSES &amp; TRAININGS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65583" y="396238"/>
              <a:ext cx="3126385" cy="63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11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Machine Learning</a:t>
              </a:r>
              <a:r>
                <a:rPr lang="en-US" sz="700" spc="37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 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Title: 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Introduction to Machine Learning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 University of Toronto, Sep-Dec 2025</a:t>
              </a:r>
            </a:p>
            <a:p>
              <a:pPr algn="l">
                <a:lnSpc>
                  <a:spcPts val="695"/>
                </a:lnSpc>
              </a:pPr>
            </a:p>
            <a:p>
              <a:pPr algn="l">
                <a:lnSpc>
                  <a:spcPts val="811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Deep Learning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Title: 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Applied Fundamentals of Deep Learning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 University of Toronto, Sep-Dec 2025</a:t>
              </a:r>
            </a:p>
            <a:p>
              <a:pPr algn="l">
                <a:lnSpc>
                  <a:spcPts val="695"/>
                </a:lnSpc>
              </a:pPr>
            </a:p>
            <a:p>
              <a:pPr algn="l">
                <a:lnSpc>
                  <a:spcPts val="811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Python in Depth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Title: 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Programming Language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 University of Toronto, Sep-Dec 2025</a:t>
              </a:r>
            </a:p>
            <a:p>
              <a:pPr algn="l">
                <a:lnSpc>
                  <a:spcPts val="695"/>
                </a:lnSpc>
              </a:pPr>
            </a:p>
            <a:p>
              <a:pPr algn="l">
                <a:lnSpc>
                  <a:spcPts val="811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AUTORULE, M</a:t>
              </a: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L Technique from a Research Paper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Title:</a:t>
              </a:r>
              <a:r>
                <a:rPr lang="en-US" sz="600" spc="31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 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AUTORULE: Reasoning Chain-of-thought Extracted Rule-based Rewards Improve Preference Learning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 Eigen AI Conference’25 by UTMIST, Club in University of Toronto, 20 Sep 2025</a:t>
              </a:r>
            </a:p>
            <a:p>
              <a:pPr algn="l">
                <a:lnSpc>
                  <a:spcPts val="811"/>
                </a:lnSpc>
              </a:pPr>
            </a:p>
            <a:p>
              <a:pPr algn="l">
                <a:lnSpc>
                  <a:spcPts val="811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Recommendation Systems 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Title: </a:t>
              </a: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Recommendation Systems: How Netflix Knows What You’ll Watch Next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 </a:t>
              </a: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Eigen AI Conference’25 by UTMIST, Club in University of Toronto, 21 Sep 2025</a:t>
              </a:r>
            </a:p>
            <a:p>
              <a:pPr algn="l">
                <a:lnSpc>
                  <a:spcPts val="695"/>
                </a:lnSpc>
              </a:pPr>
            </a:p>
            <a:p>
              <a:pPr algn="l">
                <a:lnSpc>
                  <a:spcPts val="811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Search Engine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Title: The Intelligent Search Company - The Evolution of Search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 </a:t>
              </a: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Eigen AI Conference’25 by UTMIST, Club in University of Toronto, 21 Sep 2025</a:t>
              </a:r>
            </a:p>
            <a:p>
              <a:pPr algn="l">
                <a:lnSpc>
                  <a:spcPts val="695"/>
                </a:lnSpc>
              </a:pPr>
            </a:p>
            <a:p>
              <a:pPr algn="l">
                <a:lnSpc>
                  <a:spcPts val="811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Responsible AI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Title: </a:t>
              </a: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Responsible AI 101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 Eigen AI Conference’25 by UTMIST, Club in University of Toronto, 20 Sep 2025</a:t>
              </a:r>
            </a:p>
            <a:p>
              <a:pPr algn="l">
                <a:lnSpc>
                  <a:spcPts val="695"/>
                </a:lnSpc>
              </a:pPr>
            </a:p>
            <a:p>
              <a:pPr algn="l">
                <a:lnSpc>
                  <a:spcPts val="811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AI Visualization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Title: IEEE - Edge AI Workshop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 Eigen AI Conference’25 by UTMIST, Club in University of Toronto, 20 Sep 2025</a:t>
              </a:r>
            </a:p>
            <a:p>
              <a:pPr algn="l">
                <a:lnSpc>
                  <a:spcPts val="695"/>
                </a:lnSpc>
              </a:pPr>
            </a:p>
            <a:p>
              <a:pPr algn="l">
                <a:lnSpc>
                  <a:spcPts val="811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Implementation of Claude API 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Title: Building Applications with the Claude API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 Eigen AI Conference’25 by UTMIST, Club in University of Toronto, 21 Sep 2025</a:t>
              </a:r>
            </a:p>
            <a:p>
              <a:pPr algn="l">
                <a:lnSpc>
                  <a:spcPts val="695"/>
                </a:lnSpc>
              </a:pPr>
            </a:p>
            <a:p>
              <a:pPr algn="l">
                <a:lnSpc>
                  <a:spcPts val="811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Generative AI Fundamentals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Title: Advanced: Generative AI for Developers Learning Path</a:t>
              </a:r>
            </a:p>
            <a:p>
              <a:pPr algn="l" marL="129540" indent="-64770" lvl="1">
                <a:lnSpc>
                  <a:spcPts val="695"/>
                </a:lnSpc>
                <a:buFont typeface="Arial"/>
                <a:buChar char="•"/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Introduction to Image Generation</a:t>
              </a:r>
            </a:p>
            <a:p>
              <a:pPr algn="l" marL="129540" indent="-64770" lvl="1">
                <a:lnSpc>
                  <a:spcPts val="695"/>
                </a:lnSpc>
                <a:buFont typeface="Arial"/>
                <a:buChar char="•"/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Attention Mechanism</a:t>
              </a:r>
            </a:p>
            <a:p>
              <a:pPr algn="l" marL="129540" indent="-64770" lvl="1">
                <a:lnSpc>
                  <a:spcPts val="695"/>
                </a:lnSpc>
                <a:buFont typeface="Arial"/>
                <a:buChar char="•"/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Encoder-Decoder Architecture</a:t>
              </a:r>
            </a:p>
            <a:p>
              <a:pPr algn="l" marL="129540" indent="-64770" lvl="1">
                <a:lnSpc>
                  <a:spcPts val="695"/>
                </a:lnSpc>
                <a:buFont typeface="Arial"/>
                <a:buChar char="•"/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Transformer Models and BERT Model</a:t>
              </a:r>
            </a:p>
            <a:p>
              <a:pPr algn="l" marL="129540" indent="-64770" lvl="1">
                <a:lnSpc>
                  <a:spcPts val="695"/>
                </a:lnSpc>
                <a:buFont typeface="Arial"/>
                <a:buChar char="•"/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Create Image Captioning Models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(https://www.cloudskillsboost.google/paths/183)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 Google Cloud, August 2025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3406502" y="396238"/>
              <a:ext cx="2544972" cy="58813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11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Data Modeling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Title: Data Models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 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King Mongkut’s University of Technology Thonburi (KMUTT), Jan-April 2025</a:t>
              </a:r>
            </a:p>
            <a:p>
              <a:pPr algn="l">
                <a:lnSpc>
                  <a:spcPts val="811"/>
                </a:lnSpc>
              </a:pPr>
            </a:p>
            <a:p>
              <a:pPr algn="l">
                <a:lnSpc>
                  <a:spcPts val="811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Large Language Models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Title: 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LLM Course </a:t>
              </a:r>
            </a:p>
            <a:p>
              <a:pPr algn="l" marL="129540" indent="-64770" lvl="1">
                <a:lnSpc>
                  <a:spcPts val="695"/>
                </a:lnSpc>
                <a:buFont typeface="Arial"/>
                <a:buChar char="•"/>
              </a:pP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Set up</a:t>
              </a:r>
            </a:p>
            <a:p>
              <a:pPr algn="l" marL="129540" indent="-64770" lvl="1">
                <a:lnSpc>
                  <a:spcPts val="695"/>
                </a:lnSpc>
                <a:buFont typeface="Arial"/>
                <a:buChar char="•"/>
              </a:pP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Transformer Models</a:t>
              </a:r>
            </a:p>
            <a:p>
              <a:pPr algn="l" marL="129540" indent="-64770" lvl="1">
                <a:lnSpc>
                  <a:spcPts val="695"/>
                </a:lnSpc>
                <a:buFont typeface="Arial"/>
                <a:buChar char="•"/>
              </a:pP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Using Transformers</a:t>
              </a:r>
            </a:p>
            <a:p>
              <a:pPr algn="l">
                <a:lnSpc>
                  <a:spcPts val="695"/>
                </a:lnSpc>
              </a:pP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(https://huggingface.co/learn/llm-course)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 Hugging Face, July-August 2025</a:t>
              </a:r>
            </a:p>
            <a:p>
              <a:pPr algn="l">
                <a:lnSpc>
                  <a:spcPts val="695"/>
                </a:lnSpc>
              </a:pPr>
            </a:p>
            <a:p>
              <a:pPr algn="l">
                <a:lnSpc>
                  <a:spcPts val="811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React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Title: 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React Foundation (https://nextjs.org/learn/react-foundations)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 Vercel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, Mar 2024</a:t>
              </a:r>
            </a:p>
            <a:p>
              <a:pPr algn="l">
                <a:lnSpc>
                  <a:spcPts val="695"/>
                </a:lnSpc>
              </a:pPr>
            </a:p>
            <a:p>
              <a:pPr algn="l">
                <a:lnSpc>
                  <a:spcPts val="811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Next.js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Title: 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Learn Next.js (https://nextjs.org/learn/dashboard-app)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 Vercel, Mar &amp; April 2024</a:t>
              </a:r>
            </a:p>
            <a:p>
              <a:pPr algn="l">
                <a:lnSpc>
                  <a:spcPts val="695"/>
                </a:lnSpc>
              </a:pPr>
            </a:p>
            <a:p>
              <a:pPr algn="l">
                <a:lnSpc>
                  <a:spcPts val="811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Generative AI Usages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Title: 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The Future of Marketing the Power of Generative AI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 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KMUTT ACTS 2024(Stage talk), Aug 2024</a:t>
              </a:r>
            </a:p>
            <a:p>
              <a:pPr algn="l">
                <a:lnSpc>
                  <a:spcPts val="695"/>
                </a:lnSpc>
              </a:pPr>
            </a:p>
            <a:p>
              <a:pPr algn="l">
                <a:lnSpc>
                  <a:spcPts val="811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Cloud Computing 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Title: 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ACA Cloud Computing Training and Exam Preparation Program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 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Alibaba Cloud x CPE-KMUTT, Oct 2024</a:t>
              </a:r>
            </a:p>
            <a:p>
              <a:pPr algn="l">
                <a:lnSpc>
                  <a:spcPts val="695"/>
                </a:lnSpc>
              </a:pPr>
            </a:p>
            <a:p>
              <a:pPr algn="l">
                <a:lnSpc>
                  <a:spcPts val="811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Project Management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Title: 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Angel Secret “Project Management”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 KMUTT Hatch, May 2024</a:t>
              </a:r>
            </a:p>
            <a:p>
              <a:pPr algn="l">
                <a:lnSpc>
                  <a:spcPts val="695"/>
                </a:lnSpc>
              </a:pPr>
            </a:p>
            <a:p>
              <a:pPr algn="l">
                <a:lnSpc>
                  <a:spcPts val="811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Personas Creation and Implementation 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Title: 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Personas in Action: Your Key to Effective Problem Solving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 KMUTT ACTS 2024(Workshop), Aug 2024</a:t>
              </a:r>
            </a:p>
            <a:p>
              <a:pPr algn="l">
                <a:lnSpc>
                  <a:spcPts val="695"/>
                </a:lnSpc>
              </a:pPr>
            </a:p>
            <a:p>
              <a:pPr algn="l">
                <a:lnSpc>
                  <a:spcPts val="811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Main </a:t>
              </a: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Soft Skills in Entrepreneurship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Title: 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Entrepreneurial Mindset: Keys to Startup Success</a:t>
              </a:r>
            </a:p>
            <a:p>
              <a:pPr algn="l">
                <a:lnSpc>
                  <a:spcPts val="695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 KMUTT ACTS 2024(Workshop), Aug 2024</a:t>
              </a:r>
            </a:p>
            <a:p>
              <a:pPr algn="l">
                <a:lnSpc>
                  <a:spcPts val="695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3340" y="306751"/>
            <a:ext cx="4606858" cy="2488192"/>
            <a:chOff x="0" y="0"/>
            <a:chExt cx="6142477" cy="3317589"/>
          </a:xfrm>
        </p:grpSpPr>
        <p:sp>
          <p:nvSpPr>
            <p:cNvPr name="AutoShape 24" id="24"/>
            <p:cNvSpPr/>
            <p:nvPr/>
          </p:nvSpPr>
          <p:spPr>
            <a:xfrm>
              <a:off x="0" y="310513"/>
              <a:ext cx="6142477" cy="0"/>
            </a:xfrm>
            <a:prstGeom prst="line">
              <a:avLst/>
            </a:prstGeom>
            <a:ln cap="flat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5" id="25"/>
            <p:cNvSpPr txBox="true"/>
            <p:nvPr/>
          </p:nvSpPr>
          <p:spPr>
            <a:xfrm rot="0">
              <a:off x="182623" y="9525"/>
              <a:ext cx="2995849" cy="240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94"/>
                </a:lnSpc>
                <a:spcBef>
                  <a:spcPct val="0"/>
                </a:spcBef>
              </a:pPr>
              <a:r>
                <a:rPr lang="en-US" sz="1267" spc="6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AWARDS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182623" y="424986"/>
              <a:ext cx="5892504" cy="28926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12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[Scholarship] Canada-ASEAN Scholarships and Educational Exchanges for Development (SEED)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Prize: 10200 CAD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Category: Individual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 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The Government of 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Canada, with 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  <a:hlinkClick r:id="rId3" tooltip="https://www.google.com/search?sca_esv=792560e52f66799b&amp;rlz=1C1OZZY_enTH1159TH1159&amp;cs=1&amp;sxsrf=AE3TifPYiivGoCxYsN0ODcCNadS9n9FEzw%3A1758510479634&amp;q=Global+Affairs+Canada&amp;sa=X&amp;ved=2ahUKEwj91sKDsuuPAxW4g4kEHV6tCDYQxccNegQIAxAC&amp;mstk=AUtExfDaOt_cQlWMTTvUMj9EHxHPyF-8zdPX8RTlUhvzpQDnH_GvKgIbFhRMBczAb2LCwJGeJOmWU58spaOk0a-hadHk-IXGi8brmrHMCzoHEUyPjr29rhabeZyka5dljl4AKq-biA-Vb6t6iFs1EBAsWX2_p5vV4a54KB7P75cwgcZv-5RsQF-QPz-XQZc2_bSStaPFs-EGfEu-GaQg5ON4YhpAdLUbjEXHGcWbnw69sgygcnxNFpvatncvfUl9kmuV9OQco3MerMqOZDzbWru2pCQLtWR77FOq3UTf0E-0vBBYXs-9Py335lD_Z8jUHkoR7sPKqMYtyxoa3A1Fo_R5PCjPxH0SHZM64Amuy_K85-WsosJMhdhwVGjml89ayEfOV7LGZMZ7XG92z10i8a0C81ANasLxxMyeISgWEUNTOjWjPTbKXGeQRRP3UwKt_7z9&amp;csui=3"/>
                </a:rPr>
                <a:t>Global Affairs Canada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 and the 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  <a:hlinkClick r:id="rId4" tooltip="https://www.google.com/search?sca_esv=792560e52f66799b&amp;rlz=1C1OZZY_enTH1159TH1159&amp;cs=1&amp;sxsrf=AE3TifPYiivGoCxYsN0ODcCNadS9n9FEzw%3A1758510479634&amp;q=Canadian+Bureau+for+International+Education&amp;sa=X&amp;ved=2ahUKEwj91sKDsuuPAxW4g4kEHV6tCDYQxccNegQIAxAD&amp;mstk=AUtExfDaOt_cQlWMTTvUMj9EHxHPyF-8zdPX8RTlUhvzpQDnH_GvKgIbFhRMBczAb2LCwJGeJOmWU58spaOk0a-hadHk-IXGi8brmrHMCzoHEUyPjr29rhabeZyka5dljl4AKq-biA-Vb6t6iFs1EBAsWX2_p5vV4a54KB7P75cwgcZv-5RsQF-QPz-XQZc2_bSStaPFs-EGfEu-GaQg5ON4YhpAdLUbjEXHGcWbnw69sgygcnxNFpvatncvfUl9kmuV9OQco3MerMqOZDzbWru2pCQLtWR77FOq3UTf0E-0vBBYXs-9Py335lD_Z8jUHkoR7sPKqMYtyxoa3A1Fo_R5PCjPxH0SHZM64Amuy_K85-WsosJMhdhwVGjml89ayEfOV7LGZMZ7XG92z10i8a0C81ANasLxxMyeISgWEUNTOjWjPTbKXGeQRRP3UwKt_7z9&amp;csui=3"/>
                </a:rPr>
                <a:t>Canadian Bureau for International Education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 (CBIE)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Year: 2025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Detail: Canadian government scholarship for University of Toronto Exchange Program</a:t>
              </a:r>
            </a:p>
            <a:p>
              <a:pPr algn="l">
                <a:lnSpc>
                  <a:spcPts val="812"/>
                </a:lnSpc>
              </a:pPr>
            </a:p>
            <a:p>
              <a:pPr algn="l">
                <a:lnSpc>
                  <a:spcPts val="812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[Hackathon] Cyber Warrior Hackathon 2025: Honorable Mention Award (Top 10)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Prize: 10000 THB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Category: Team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 King Mongkut’s University of Technology Thonburi (KMUTT), in collaboration with the Cyber Crime Investigation Bureau (CCIB).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Year: 2025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Detail: Team award on the hackathon named Cyber Warrior Hackathon. Our team of 5 developed Tron Cryptocurrency tracking desktop application to track scammer’s transaction of cryptocurrency</a:t>
              </a:r>
            </a:p>
            <a:p>
              <a:pPr algn="l">
                <a:lnSpc>
                  <a:spcPts val="696"/>
                </a:lnSpc>
              </a:pPr>
            </a:p>
            <a:p>
              <a:pPr algn="l">
                <a:lnSpc>
                  <a:spcPts val="812"/>
                </a:lnSpc>
              </a:pP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[Hackathon] </a:t>
              </a:r>
              <a:r>
                <a:rPr lang="en-US" sz="700" spc="37">
                  <a:solidFill>
                    <a:srgbClr val="000000"/>
                  </a:solidFill>
                  <a:latin typeface="ABeeZee Bold"/>
                  <a:ea typeface="ABeeZee Bold"/>
                  <a:cs typeface="ABeeZee Bold"/>
                  <a:sym typeface="ABeeZee Bold"/>
                </a:rPr>
                <a:t>Hackathon &amp; Pitching E-SAN Thailand PMU-B Coding &amp; AI Academy Season 2: Social Impact Award + Gold Level Certificate 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Prize: 3000 THB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Category: Team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Organizer: </a:t>
              </a:r>
              <a:r>
                <a:rPr lang="en-US" sz="600" i="true" spc="31">
                  <a:solidFill>
                    <a:srgbClr val="000000"/>
                  </a:solidFill>
                  <a:latin typeface="ABeeZee Italics"/>
                  <a:ea typeface="ABeeZee Italics"/>
                  <a:cs typeface="ABeeZee Italics"/>
                  <a:sym typeface="ABeeZee Italics"/>
                </a:rPr>
                <a:t>PMU-B in collaboration with Khon Kaen University, regional educational institutions, government agencies, and private sector partners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Year: 2025</a:t>
              </a:r>
            </a:p>
            <a:p>
              <a:pPr algn="l">
                <a:lnSpc>
                  <a:spcPts val="696"/>
                </a:lnSpc>
              </a:pPr>
              <a:r>
                <a:rPr lang="en-US" sz="600" spc="31">
                  <a:solidFill>
                    <a:srgbClr val="000000"/>
                  </a:solidFill>
                  <a:latin typeface="ABeeZee"/>
                  <a:ea typeface="ABeeZee"/>
                  <a:cs typeface="ABeeZee"/>
                  <a:sym typeface="ABeeZee"/>
                </a:rPr>
                <a:t>Detail: Team awards. Our team of 3 developed an innovative crosswalk safety application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756850" y="9936000"/>
            <a:ext cx="2046299" cy="574784"/>
            <a:chOff x="0" y="0"/>
            <a:chExt cx="2728399" cy="76637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18790"/>
              <a:ext cx="391826" cy="728797"/>
            </a:xfrm>
            <a:custGeom>
              <a:avLst/>
              <a:gdLst/>
              <a:ahLst/>
              <a:cxnLst/>
              <a:rect r="r" b="b" t="t" l="l"/>
              <a:pathLst>
                <a:path h="728797" w="391826">
                  <a:moveTo>
                    <a:pt x="0" y="0"/>
                  </a:moveTo>
                  <a:lnTo>
                    <a:pt x="391826" y="0"/>
                  </a:lnTo>
                  <a:lnTo>
                    <a:pt x="391826" y="728798"/>
                  </a:lnTo>
                  <a:lnTo>
                    <a:pt x="0" y="7287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3642" t="0" r="-42357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419192" y="56458"/>
              <a:ext cx="413583" cy="653462"/>
            </a:xfrm>
            <a:custGeom>
              <a:avLst/>
              <a:gdLst/>
              <a:ahLst/>
              <a:cxnLst/>
              <a:rect r="r" b="b" t="t" l="l"/>
              <a:pathLst>
                <a:path h="653462" w="413583">
                  <a:moveTo>
                    <a:pt x="0" y="0"/>
                  </a:moveTo>
                  <a:lnTo>
                    <a:pt x="413583" y="0"/>
                  </a:lnTo>
                  <a:lnTo>
                    <a:pt x="413583" y="653462"/>
                  </a:lnTo>
                  <a:lnTo>
                    <a:pt x="0" y="6534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557793" y="0"/>
              <a:ext cx="697027" cy="766378"/>
            </a:xfrm>
            <a:custGeom>
              <a:avLst/>
              <a:gdLst/>
              <a:ahLst/>
              <a:cxnLst/>
              <a:rect r="r" b="b" t="t" l="l"/>
              <a:pathLst>
                <a:path h="766378" w="697027">
                  <a:moveTo>
                    <a:pt x="0" y="0"/>
                  </a:moveTo>
                  <a:lnTo>
                    <a:pt x="697026" y="0"/>
                  </a:lnTo>
                  <a:lnTo>
                    <a:pt x="697026" y="766378"/>
                  </a:lnTo>
                  <a:lnTo>
                    <a:pt x="0" y="766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4742" t="-8619" r="-8424" b="-18196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068834" y="218548"/>
              <a:ext cx="659565" cy="432840"/>
            </a:xfrm>
            <a:custGeom>
              <a:avLst/>
              <a:gdLst/>
              <a:ahLst/>
              <a:cxnLst/>
              <a:rect r="r" b="b" t="t" l="l"/>
              <a:pathLst>
                <a:path h="432840" w="659565">
                  <a:moveTo>
                    <a:pt x="0" y="0"/>
                  </a:moveTo>
                  <a:lnTo>
                    <a:pt x="659565" y="0"/>
                  </a:lnTo>
                  <a:lnTo>
                    <a:pt x="659565" y="432840"/>
                  </a:lnTo>
                  <a:lnTo>
                    <a:pt x="0" y="432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4934676" y="1892362"/>
            <a:ext cx="2536305" cy="3453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0"/>
              </a:lnSpc>
            </a:pPr>
            <a:r>
              <a:rPr lang="en-US" sz="1300" spc="68">
                <a:solidFill>
                  <a:srgbClr val="FFFFFF"/>
                </a:solidFill>
                <a:latin typeface="ABeeZee Bold"/>
                <a:ea typeface="ABeeZee Bold"/>
                <a:cs typeface="ABeeZee Bold"/>
                <a:sym typeface="ABeeZee Bold"/>
              </a:rPr>
              <a:t>Patiharn Liangkobkit</a:t>
            </a:r>
          </a:p>
          <a:p>
            <a:pPr algn="l">
              <a:lnSpc>
                <a:spcPts val="1040"/>
              </a:lnSpc>
            </a:pPr>
            <a:r>
              <a:rPr lang="en-US" sz="800" spc="42">
                <a:solidFill>
                  <a:srgbClr val="FFFFFF"/>
                </a:solidFill>
                <a:latin typeface="ABeeZee Bold"/>
                <a:ea typeface="ABeeZee Bold"/>
                <a:cs typeface="ABeeZee Bold"/>
                <a:sym typeface="ABeeZee Bold"/>
              </a:rPr>
              <a:t>Data Scientist &amp; AI Engineer - Specialized in Artificial Intelligence (AI)</a:t>
            </a:r>
          </a:p>
          <a:p>
            <a:pPr algn="l">
              <a:lnSpc>
                <a:spcPts val="695"/>
              </a:lnSpc>
            </a:pPr>
          </a:p>
          <a:p>
            <a:pPr algn="l">
              <a:lnSpc>
                <a:spcPts val="811"/>
              </a:lnSpc>
            </a:pPr>
            <a:r>
              <a:rPr lang="en-US" sz="700" spc="37">
                <a:solidFill>
                  <a:srgbClr val="FFFFFF"/>
                </a:solidFill>
                <a:latin typeface="ABeeZee"/>
                <a:ea typeface="ABeeZee"/>
                <a:cs typeface="ABeeZee"/>
                <a:sym typeface="ABeeZee"/>
              </a:rPr>
              <a:t>3+ years of experience in python and coding in multiple languages</a:t>
            </a:r>
          </a:p>
          <a:p>
            <a:pPr algn="l">
              <a:lnSpc>
                <a:spcPts val="811"/>
              </a:lnSpc>
            </a:pPr>
          </a:p>
          <a:p>
            <a:pPr algn="l">
              <a:lnSpc>
                <a:spcPts val="811"/>
              </a:lnSpc>
            </a:pPr>
            <a:r>
              <a:rPr lang="en-US" sz="700" spc="37">
                <a:solidFill>
                  <a:srgbClr val="FFFFFF"/>
                </a:solidFill>
                <a:latin typeface="ABeeZee"/>
                <a:ea typeface="ABeeZee"/>
                <a:cs typeface="ABeeZee"/>
                <a:sym typeface="ABeeZee"/>
              </a:rPr>
              <a:t>1+ year of experience in data modeling and machine learning</a:t>
            </a:r>
          </a:p>
          <a:p>
            <a:pPr algn="l">
              <a:lnSpc>
                <a:spcPts val="811"/>
              </a:lnSpc>
            </a:pPr>
          </a:p>
          <a:p>
            <a:pPr algn="l">
              <a:lnSpc>
                <a:spcPts val="811"/>
              </a:lnSpc>
            </a:pPr>
            <a:r>
              <a:rPr lang="en-US" sz="700" spc="37">
                <a:solidFill>
                  <a:srgbClr val="FFFFFF"/>
                </a:solidFill>
                <a:latin typeface="ABeeZee"/>
                <a:ea typeface="ABeeZee"/>
                <a:cs typeface="ABeeZee"/>
                <a:sym typeface="ABeeZee"/>
              </a:rPr>
              <a:t>1 year of international experience in United States</a:t>
            </a:r>
          </a:p>
          <a:p>
            <a:pPr algn="l">
              <a:lnSpc>
                <a:spcPts val="811"/>
              </a:lnSpc>
            </a:pPr>
          </a:p>
          <a:p>
            <a:pPr algn="l">
              <a:lnSpc>
                <a:spcPts val="811"/>
              </a:lnSpc>
            </a:pPr>
            <a:r>
              <a:rPr lang="en-US" sz="700" spc="37">
                <a:solidFill>
                  <a:srgbClr val="FFFFFF"/>
                </a:solidFill>
                <a:latin typeface="ABeeZee"/>
                <a:ea typeface="ABeeZee"/>
                <a:cs typeface="ABeeZee"/>
                <a:sym typeface="ABeeZee"/>
              </a:rPr>
              <a:t>4 months of international experience in Canada as a computer engineering undergraduate in University of Toronto</a:t>
            </a:r>
          </a:p>
          <a:p>
            <a:pPr algn="l">
              <a:lnSpc>
                <a:spcPts val="811"/>
              </a:lnSpc>
            </a:pPr>
          </a:p>
          <a:p>
            <a:pPr algn="l">
              <a:lnSpc>
                <a:spcPts val="811"/>
              </a:lnSpc>
            </a:pPr>
            <a:r>
              <a:rPr lang="en-US" sz="700" spc="37">
                <a:solidFill>
                  <a:srgbClr val="FFFFFF"/>
                </a:solidFill>
                <a:latin typeface="ABeeZee"/>
                <a:ea typeface="ABeeZee"/>
                <a:cs typeface="ABeeZee"/>
                <a:sym typeface="ABeeZee"/>
              </a:rPr>
              <a:t>Current GPA: 3.72</a:t>
            </a:r>
          </a:p>
          <a:p>
            <a:pPr algn="l">
              <a:lnSpc>
                <a:spcPts val="811"/>
              </a:lnSpc>
            </a:pPr>
          </a:p>
          <a:p>
            <a:pPr algn="l">
              <a:lnSpc>
                <a:spcPts val="811"/>
              </a:lnSpc>
            </a:pPr>
            <a:r>
              <a:rPr lang="en-US" sz="700" spc="37">
                <a:solidFill>
                  <a:srgbClr val="FFFFFF"/>
                </a:solidFill>
                <a:latin typeface="ABeeZee"/>
                <a:ea typeface="ABeeZee"/>
                <a:cs typeface="ABeeZee"/>
                <a:sym typeface="ABeeZee"/>
              </a:rPr>
              <a:t>English Score: </a:t>
            </a:r>
          </a:p>
          <a:p>
            <a:pPr algn="l" marL="151130" indent="-75565" lvl="1">
              <a:lnSpc>
                <a:spcPts val="811"/>
              </a:lnSpc>
              <a:buFont typeface="Arial"/>
              <a:buChar char="•"/>
            </a:pPr>
            <a:r>
              <a:rPr lang="en-US" sz="700" spc="37">
                <a:solidFill>
                  <a:srgbClr val="FFFFFF"/>
                </a:solidFill>
                <a:latin typeface="ABeeZee"/>
                <a:ea typeface="ABeeZee"/>
                <a:cs typeface="ABeeZee"/>
                <a:sym typeface="ABeeZee"/>
              </a:rPr>
              <a:t>Duolingo English Test: 125 overall</a:t>
            </a:r>
          </a:p>
          <a:p>
            <a:pPr algn="l" marL="302260" indent="-100753" lvl="2">
              <a:lnSpc>
                <a:spcPts val="811"/>
              </a:lnSpc>
              <a:buFont typeface="Arial"/>
              <a:buChar char="⚬"/>
            </a:pPr>
            <a:r>
              <a:rPr lang="en-US" sz="700" spc="37">
                <a:solidFill>
                  <a:srgbClr val="FFFFFF"/>
                </a:solidFill>
                <a:latin typeface="ABeeZee"/>
                <a:ea typeface="ABeeZee"/>
                <a:cs typeface="ABeeZee"/>
                <a:sym typeface="ABeeZee"/>
              </a:rPr>
              <a:t>IELTS 6.5</a:t>
            </a:r>
          </a:p>
          <a:p>
            <a:pPr algn="l" marL="302260" indent="-100753" lvl="2">
              <a:lnSpc>
                <a:spcPts val="811"/>
              </a:lnSpc>
              <a:buFont typeface="Arial"/>
              <a:buChar char="⚬"/>
            </a:pPr>
            <a:r>
              <a:rPr lang="en-US" sz="700" spc="37">
                <a:solidFill>
                  <a:srgbClr val="FFFFFF"/>
                </a:solidFill>
                <a:latin typeface="ABeeZee"/>
                <a:ea typeface="ABeeZee"/>
                <a:cs typeface="ABeeZee"/>
                <a:sym typeface="ABeeZee"/>
              </a:rPr>
              <a:t>CEFR B2</a:t>
            </a:r>
          </a:p>
          <a:p>
            <a:pPr algn="l" marL="302260" indent="-100753" lvl="2">
              <a:lnSpc>
                <a:spcPts val="811"/>
              </a:lnSpc>
              <a:buFont typeface="Arial"/>
              <a:buChar char="⚬"/>
            </a:pPr>
            <a:r>
              <a:rPr lang="en-US" sz="700" spc="37">
                <a:solidFill>
                  <a:srgbClr val="FFFFFF"/>
                </a:solidFill>
                <a:latin typeface="ABeeZee"/>
                <a:ea typeface="ABeeZee"/>
                <a:cs typeface="ABeeZee"/>
                <a:sym typeface="ABeeZee"/>
              </a:rPr>
              <a:t>TOEFL iBT 93-97</a:t>
            </a:r>
          </a:p>
          <a:p>
            <a:pPr algn="l">
              <a:lnSpc>
                <a:spcPts val="811"/>
              </a:lnSpc>
            </a:pPr>
          </a:p>
          <a:p>
            <a:pPr algn="l">
              <a:lnSpc>
                <a:spcPts val="811"/>
              </a:lnSpc>
            </a:pPr>
            <a:r>
              <a:rPr lang="en-US" sz="700" spc="37">
                <a:solidFill>
                  <a:srgbClr val="FFFFFF"/>
                </a:solidFill>
                <a:latin typeface="ABeeZee"/>
                <a:ea typeface="ABeeZee"/>
                <a:cs typeface="ABeeZee"/>
                <a:sym typeface="ABeeZee"/>
              </a:rPr>
              <a:t>Gmail: patiharn.liang@gmail.com</a:t>
            </a:r>
          </a:p>
          <a:p>
            <a:pPr algn="l">
              <a:lnSpc>
                <a:spcPts val="811"/>
              </a:lnSpc>
            </a:pPr>
          </a:p>
          <a:p>
            <a:pPr algn="l">
              <a:lnSpc>
                <a:spcPts val="811"/>
              </a:lnSpc>
            </a:pPr>
            <a:r>
              <a:rPr lang="en-US" sz="700" spc="37">
                <a:solidFill>
                  <a:srgbClr val="FFFFFF"/>
                </a:solidFill>
                <a:latin typeface="ABeeZee"/>
                <a:ea typeface="ABeeZee"/>
                <a:cs typeface="ABeeZee"/>
                <a:sym typeface="ABeeZee"/>
              </a:rPr>
              <a:t>Tel: +66 63-614-5491</a:t>
            </a:r>
          </a:p>
          <a:p>
            <a:pPr algn="l">
              <a:lnSpc>
                <a:spcPts val="811"/>
              </a:lnSpc>
            </a:pPr>
          </a:p>
          <a:p>
            <a:pPr algn="l">
              <a:lnSpc>
                <a:spcPts val="811"/>
              </a:lnSpc>
            </a:pPr>
            <a:r>
              <a:rPr lang="en-US" sz="700" spc="37">
                <a:solidFill>
                  <a:srgbClr val="FFFFFF"/>
                </a:solidFill>
                <a:latin typeface="ABeeZee"/>
                <a:ea typeface="ABeeZee"/>
                <a:cs typeface="ABeeZee"/>
                <a:sym typeface="ABeeZee"/>
              </a:rPr>
              <a:t>Github: Richyboy170</a:t>
            </a:r>
          </a:p>
          <a:p>
            <a:pPr algn="l">
              <a:lnSpc>
                <a:spcPts val="811"/>
              </a:lnSpc>
            </a:pPr>
          </a:p>
          <a:p>
            <a:pPr algn="l">
              <a:lnSpc>
                <a:spcPts val="811"/>
              </a:lnSpc>
            </a:pPr>
            <a:r>
              <a:rPr lang="en-US" sz="700" spc="37">
                <a:solidFill>
                  <a:srgbClr val="FFFFFF"/>
                </a:solidFill>
                <a:latin typeface="ABeeZee"/>
                <a:ea typeface="ABeeZee"/>
                <a:cs typeface="ABeeZee"/>
                <a:sym typeface="ABeeZee"/>
              </a:rPr>
              <a:t>Address: 11/165 Nirvana Sathorn Kalapapruek Rd. Bangkhuntian Chomthong Bangkok 10150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DAGzkN_SuWI</dc:identifier>
  <dcterms:modified xsi:type="dcterms:W3CDTF">2011-08-01T06:04:30Z</dcterms:modified>
  <cp:revision>1</cp:revision>
  <dc:title>Richy's CV Resume - Sep 2025</dc:title>
</cp:coreProperties>
</file>